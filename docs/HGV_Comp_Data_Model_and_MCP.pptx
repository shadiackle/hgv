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83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HGV Compensation Hub</a:t>
            </a:r>
          </a:p>
          <a:p>
            <a:pPr>
              <a:spcBef>
                <a:spcPts val="1200"/>
              </a:spcBef>
              <a:defRPr sz="2600">
                <a:solidFill>
                  <a:srgbClr val="14B8A6"/>
                </a:solidFill>
              </a:defRPr>
            </a:pPr>
            <a:r>
              <a:t>Data Model &amp; Agent Integration (MCP)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2918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BD5E1"/>
                </a:solidFill>
              </a:defRPr>
            </a:pPr>
            <a:r>
              <a:t>Governed semantic layer over your Cognos &amp; PwC ETL  •  AI-ready MCP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6692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edw_dev_hris.hgv_comp  |  Databricks Apps  |  Model Context Protocol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795527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We built a governed compensation semantic layer on top of HGV’s existing Cognos and PwC ETL — not a parallel data mart.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The HGV Compensation Hub gives marketing reps, managers, finance, and admins persona-specific views of the same underlying truth.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AI is grounded in warehouse SQL context — never hallucinated payouts or tour counts.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Model Context Protocol (MCP) exposes that same governed data to Databricks AI Playground, Supervisor Agents, and external orchestrators.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Production target: edw_dev_hris.hgv_comp on HGV VDI Databricks with FY2025–FY2026 materialized marketing core for interactive speed.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HGV Compensation Hub  |  Confidential — Dark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6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914400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2860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Part 1</a:t>
            </a:r>
          </a:p>
          <a:p>
            <a:pPr>
              <a:spcBef>
                <a:spcPts val="1600"/>
              </a:spcBef>
              <a:defRPr sz="1800">
                <a:solidFill>
                  <a:srgbClr val="14B8A6"/>
                </a:solidFill>
              </a:defRPr>
            </a:pPr>
            <a:r>
              <a:t>Data Model &amp; Your Sources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2540"/>
                </a:solidFill>
              </a:defRPr>
            </a:pPr>
            <a:r>
              <a:t>The Challenge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795527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Cognos tour tables (it_smt_detail) contain billions of rows — direct app queries time out on VDI.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PwC commissions data is wide and granular — unsuitable as an ad-hoc analytics surface for frontline reps.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Demo personas and synthetic seeds don’t reflect live marketing reps or real tour history.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AI copilots without governance risk inventing compensation answers.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We need one semantic layer that is fast, auditable, and reusable across UI and agents.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HGV Compensation Hub  | 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A2540"/>
                </a:solidFill>
              </a:defRPr>
            </a:pPr>
            <a:r>
              <a:t>Architecture: Your Data → Governed Layer → Experiences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234440"/>
            <a:ext cx="6949440" cy="123444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25880" y="1344168"/>
            <a:ext cx="6492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HGV Source Systems (existing ETL)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edw_dev_cognos.cognos_fm — it_smt_detail, marketing, personnel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edw_dev_hris.pwcmodels — commissions (PwC / Varicent)</a:t>
            </a:r>
          </a:p>
        </p:txBody>
      </p:sp>
      <p:sp>
        <p:nvSpPr>
          <p:cNvPr id="5" name="Down Arrow 4"/>
          <p:cNvSpPr/>
          <p:nvPr/>
        </p:nvSpPr>
        <p:spPr>
          <a:xfrm>
            <a:off x="4251960" y="2496312"/>
            <a:ext cx="457200" cy="320040"/>
          </a:xfrm>
          <a:prstGeom prst="downArrow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97280" y="2926080"/>
            <a:ext cx="6949440" cy="1234440"/>
          </a:xfrm>
          <a:prstGeom prst="roundRect">
            <a:avLst/>
          </a:prstGeom>
          <a:solidFill>
            <a:srgbClr val="123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25880" y="3035808"/>
            <a:ext cx="6492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Semantic Layer  edw_dev_hris.hgv_comp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Views + materialized Delta tables (FY2025–FY2026 window)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No direct agent access to billion-row Cognos tables</a:t>
            </a:r>
          </a:p>
        </p:txBody>
      </p:sp>
      <p:sp>
        <p:nvSpPr>
          <p:cNvPr id="8" name="Down Arrow 7"/>
          <p:cNvSpPr/>
          <p:nvPr/>
        </p:nvSpPr>
        <p:spPr>
          <a:xfrm>
            <a:off x="4251960" y="4187952"/>
            <a:ext cx="457200" cy="320040"/>
          </a:xfrm>
          <a:prstGeom prst="downArrow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97280" y="4617720"/>
            <a:ext cx="6949440" cy="12344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25880" y="4727448"/>
            <a:ext cx="6492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Consumption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Compensation Hub web app (persona dashboards)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MCP tools + ResponsesAgent (AI Playground, Supervisor, bots)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4251960" y="5879592"/>
            <a:ext cx="457200" cy="320040"/>
          </a:xfrm>
          <a:prstGeom prst="downArrow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HGV Compensation Hub  | 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2540"/>
                </a:solidFill>
              </a:defRPr>
            </a:pPr>
            <a:r>
              <a:t>What We Read From HGV (Not Replaced)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3840480" cy="50292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65A"/>
                </a:solidFill>
              </a:defRPr>
            </a:pPr>
            <a:r>
              <a:t>Cognos — edw_dev_cognos.cognos_fm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it_smt_detail — tours, show/qualify, volume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it_smt_marketing — channel, office, program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it_smt_personnel — rep assignment per tour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it_smt_contract / it_uni_contract — deal linkage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it_uni_lead — guest / lead master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234440"/>
            <a:ext cx="3840480" cy="50292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46320" y="14173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65A"/>
                </a:solidFill>
              </a:defRPr>
            </a:pPr>
            <a:r>
              <a:t>PwC / Varicent — edw_dev_hris.pwcmodels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874519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commissions — field rep payouts &amp; participants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Pay dates drive dim_period calendar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Business unit, title, plan metadata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60-month lookback in views; FY2025–26 in materialized 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HGV Compensation Hub  | 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A2540"/>
                </a:solidFill>
              </a:defRPr>
            </a:pPr>
            <a:r>
              <a:t>Semantic Layer: edw_dev_hris.hgv_comp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43000"/>
          <a:ext cx="777240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Examples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Dimensions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dim_rep, dim_marketing_rep, dim_period, dim_team, dim_guest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Who, when, where — rep pickers &amp; filters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Marketing facts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fact_marketing_tour_payout, fact_marketing_rep_period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Tour ledger &amp; period KPIs for My Comp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Field sales facts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fact_payout, fact_quota_attainment, fact_deal_credit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Quota, earnings, deal credits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Manager / finance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fact_team_snapshot, fact_tour_quality, dim_finance_period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Team rollups &amp; finance corridors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Reference / scenario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industry_comp_benchmark, scenario_run, plan_assessment_*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Benchmarks &amp; what-if (writable)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Staging (internal)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_src_tour_spine, _src_rep_directory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Bounded Cognos joins — not exposed to app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HGV Compensation Hub  | 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Production Strategy: Views → Materialization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795527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Script 12/15 — Live views over Cognos/PwC with lookback windows (36mo tours, 60mo commissions).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Correct for logic &amp; governance; too slow for interactive VDI when queried on every page load.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Script 16 — One-time CTAS to Delta tables for marketing core (FY2025–FY2026 only).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Materialized: dim_marketing_rep, fact_marketing_tour_payout, fact_marketing_rep_period, dim_period, dim_rep.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Refresh cadence: re-run script 16 after ETL loads (weekly/monthly). App reads local Delta in seconds.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HGV Compensation Hub  |  Confidential — Dark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6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914400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2860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Part 2</a:t>
            </a:r>
          </a:p>
          <a:p>
            <a:pPr>
              <a:spcBef>
                <a:spcPts val="1600"/>
              </a:spcBef>
              <a:defRPr sz="1800">
                <a:solidFill>
                  <a:srgbClr val="14B8A6"/>
                </a:solidFill>
              </a:defRPr>
            </a:pPr>
            <a:r>
              <a:t>Model Context Protocol (MCP)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2540"/>
                </a:solidFill>
              </a:defRPr>
            </a:pPr>
            <a:r>
              <a:t>What Is MCP — In Plain Language?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795527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MCP (Model Context Protocol) is an open standard for giving AI agents structured tools — like APIs the model can call safely.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Instead of every team wiring custom HTTP to the comp warehouse, orchestrators discover tools once and pass validated JSON arguments.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Our MCP server runs inside the Databricks App (mcp-hgv-comp-hub) — same process as the REST API, no extra infrastructure.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Agents never get raw SQL access — only pre-approved tools that query hgv_comp.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Same Claude-backed comp agent and warehouse paths as the web UI — one implementation, many consumers.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HGV Compensation Hub  | 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MCP Integration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463040"/>
            <a:ext cx="1600200" cy="4389120"/>
          </a:xfrm>
          <a:prstGeom prst="roundRect">
            <a:avLst/>
          </a:prstGeom>
          <a:solidFill>
            <a:srgbClr val="12365A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B8A6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Orchestrator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1325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BD5E1"/>
                </a:solidFill>
              </a:defRPr>
            </a:pPr>
            <a:r>
              <a:t>AI Playground, Agent Bricks Supervisor,</a:t>
            </a:r>
            <a:br/>
            <a:r>
              <a:t>LangGraph, enterprise copilot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30552" y="1463040"/>
            <a:ext cx="1600200" cy="4389120"/>
          </a:xfrm>
          <a:prstGeom prst="roundRect">
            <a:avLst/>
          </a:prstGeom>
          <a:solidFill>
            <a:srgbClr val="12365A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67712" y="16459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B8A6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67712" y="21488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POST /mcp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67712" y="2926080"/>
            <a:ext cx="1325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BD5E1"/>
                </a:solidFill>
              </a:defRPr>
            </a:pPr>
            <a:r>
              <a:t>Streamable HTTP — tool discovery</a:t>
            </a:r>
            <a:br/>
            <a:r>
              <a:t>&amp; JSON-schema validated calls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9624" y="1463040"/>
            <a:ext cx="1600200" cy="4389120"/>
          </a:xfrm>
          <a:prstGeom prst="roundRect">
            <a:avLst/>
          </a:prstGeom>
          <a:solidFill>
            <a:srgbClr val="12365A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86784" y="16459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B8A6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86784" y="21488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Comp Hub 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86784" y="2926080"/>
            <a:ext cx="1325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BD5E1"/>
                </a:solidFill>
              </a:defRPr>
            </a:pPr>
            <a:r>
              <a:t>Same SQL + Claude path as the web UI</a:t>
            </a:r>
            <a:br/>
            <a:r>
              <a:t>(no duplicate logic)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68696" y="1463040"/>
            <a:ext cx="1600200" cy="4389120"/>
          </a:xfrm>
          <a:prstGeom prst="roundRect">
            <a:avLst/>
          </a:prstGeom>
          <a:solidFill>
            <a:srgbClr val="12365A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05856" y="16459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B8A6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05856" y="21488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Unity Catalog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05856" y="2926080"/>
            <a:ext cx="1325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BD5E1"/>
                </a:solidFill>
              </a:defRPr>
            </a:pPr>
            <a:r>
              <a:t>edw_dev_hris.hgv_comp</a:t>
            </a:r>
            <a:br/>
            <a:r>
              <a:t>(governed reads only)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87768" y="1463040"/>
            <a:ext cx="1600200" cy="4389120"/>
          </a:xfrm>
          <a:prstGeom prst="roundRect">
            <a:avLst/>
          </a:prstGeom>
          <a:solidFill>
            <a:srgbClr val="12365A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24927" y="16459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B8A6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4927" y="21488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Response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7" y="2926080"/>
            <a:ext cx="1325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BD5E1"/>
                </a:solidFill>
              </a:defRPr>
            </a:pPr>
            <a:r>
              <a:t>Structured JSON back to the agent</a:t>
            </a:r>
            <a:br/>
            <a:r>
              <a:t>for narration or workflow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9893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Deployed as mcp-hgv-comp-hub  •  Auth: Databricks OAuth or AGENT_API_KEY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A2540"/>
                </a:solidFill>
              </a:defRPr>
            </a:pPr>
            <a:r>
              <a:t>Six MCP Tools — What We Surface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43000"/>
          <a:ext cx="7772400" cy="262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Tool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What the agent receives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HGV use case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ask_comp_agent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Grounded natural-language answer (Claude + warehouse context)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“Why is my Q2 payout lower than Q1?”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get_marketing_workspace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Full My Comp payload: KPIs, tours, money map, chargebacks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Manager or bot reviewing rep performance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get_tour_context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Guest 360 + comp impact for one tour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Drill-down on a specific arrival / tour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get_comp_metadata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Reps, teams, periods, scenarios directory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Populate agent context &amp; pickers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search_comp_entities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Typeahead matches for reps, teams, deals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@mention resolution in copilots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hub_health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Liveness &amp; version check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Ops monitoring &amp; Playground registration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HGV Compensation Hub  |  Confidential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2540"/>
                </a:solidFill>
              </a:defRPr>
            </a:pPr>
            <a:r>
              <a:t>Governance &amp; Security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3840480" cy="50292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65A"/>
                </a:solidFill>
              </a:defRPr>
            </a:pPr>
            <a:r>
              <a:t>What we enforce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Unity Catalog permissions on edw_dev_hris + edw_dev_cognos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No arbitrary SQL from MCP — tools only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Lookback windows &amp; FY2025–26 materialization caps scan size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Production mode skips demo persona bootstrap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Audit trail via fact_comp_admin_log (writable Delta)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234440"/>
            <a:ext cx="3840480" cy="50292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46320" y="14173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65A"/>
                </a:solidFill>
              </a:defRPr>
            </a:pPr>
            <a:r>
              <a:t>How HGV connects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874519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AI Playground → MCP Servers → mcp-hgv-comp-hub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Agent Bricks Supervisor → add MCP tool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External bots → POST /mcp + AGENT_API_KEY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Catalog discovery → GET /api/agent/info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VDI local demo → vdi-start.ps1 on port 8000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HGV Compensation Hub  |  Confidential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What’s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795527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Complete script 16 materialization on VDI (FY2025–FY2026) and validate live marketing rep picker.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Expand materialization window or schedule nightly refresh job after ETL.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Register mcp-hgv-comp-hub in AI Gateway for Playground &amp; Supervisor demos.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Stakeholder walkthrough: My Comp, Team Performance, Finance Intelligence personas.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Optional: fine-grained MCP scopes per persona (marketing vs finance tools).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HGV Compensation Hub  |  Confidential — Dark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9144000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1945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dirty="0"/>
              <a:t>One governed comp layer.</a:t>
            </a:r>
          </a:p>
          <a:p>
            <a:pPr algn="ctr">
              <a:spcBef>
                <a:spcPts val="1400"/>
              </a:spcBef>
              <a:defRPr sz="2200">
                <a:solidFill>
                  <a:srgbClr val="14B8A6"/>
                </a:solidFill>
              </a:defRPr>
            </a:pPr>
            <a:r>
              <a:rPr dirty="0"/>
              <a:t>Web UI, AI agents, and MCP — same truth.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7548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BD5E1"/>
                </a:solidFill>
              </a:defRPr>
            </a:pPr>
            <a:r>
              <a:t>Questions &amp; 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1111</Words>
  <Application>Microsoft Office PowerPoint</Application>
  <PresentationFormat>On-screen Show (4:3)</PresentationFormat>
  <Paragraphs>147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Shadi</cp:lastModifiedBy>
  <cp:revision>2</cp:revision>
  <dcterms:created xsi:type="dcterms:W3CDTF">2013-01-27T09:14:16Z</dcterms:created>
  <dcterms:modified xsi:type="dcterms:W3CDTF">2026-06-12T17:41:23Z</dcterms:modified>
  <cp:category/>
</cp:coreProperties>
</file>